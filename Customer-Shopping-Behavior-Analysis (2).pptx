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Petron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3.png"/><Relationship Id="rId6" Type="http://schemas.openxmlformats.org/officeDocument/2006/relationships/image" Target="../media/image-6-4.svg"/><Relationship Id="rId7" Type="http://schemas.openxmlformats.org/officeDocument/2006/relationships/image" Target="../media/image-6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13372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Behavior Analysis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37372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3,900 purchases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guide strategic business decisions — from gender-based revenue patterns to subscription impact and customer segmentation.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5051"/>
            <a:ext cx="6296860" cy="610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77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Overview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61475" y="1543248"/>
            <a:ext cx="3033934" cy="614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800" b="1" spc="-9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3,900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61475" y="2387600"/>
            <a:ext cx="3033934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3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Purchases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61475" y="2802632"/>
            <a:ext cx="3033934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transaction records spanning customer demographics and behavior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924301" y="1543248"/>
            <a:ext cx="3034033" cy="614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800" b="1" spc="-9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18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3924301" y="2387600"/>
            <a:ext cx="3034033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3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Columns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924301" y="2802632"/>
            <a:ext cx="303403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 attributes covering purchase details, shipping, and customer profiles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292888" y="4147741"/>
            <a:ext cx="3033934" cy="614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800" b="1" spc="-9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37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2292888" y="4992092"/>
            <a:ext cx="3033934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3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Values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2292888" y="5407124"/>
            <a:ext cx="3033934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Concentrated exclusively in the Review Rating column — minimal data quality impact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5695"/>
            <a:ext cx="10868745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-66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Preparation Process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636" y="1435894"/>
            <a:ext cx="9238424" cy="4157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68252" y="1617307"/>
            <a:ext cx="1616712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spc="-33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Loading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868252" y="1950706"/>
            <a:ext cx="1616712" cy="369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spc="-3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dataset using pandas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467199" y="4604163"/>
            <a:ext cx="1625595" cy="524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spc="-33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Initial Exploration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467199" y="5199897"/>
            <a:ext cx="1625595" cy="369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spc="-3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structure and summary stats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48379" y="1455048"/>
            <a:ext cx="1616712" cy="52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spc="-33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Data Handling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048379" y="2050782"/>
            <a:ext cx="1616712" cy="369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spc="-3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Review Rating with median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47325" y="4604163"/>
            <a:ext cx="1616713" cy="524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spc="-33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647325" y="5199897"/>
            <a:ext cx="1616713" cy="369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spc="-3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age groups and frequency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1475" y="5746849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pipeline ensured data integrity before analysis — from raw import through feature creation and database integration for repeatable querying.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Gender Analysis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2776" y="2483346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 customers generate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slightly higher total revenue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male customers across the dataset. The gap is narrow but consistent.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Gender-based marketing strategies — including personalized promotions and product recommendations — could further optimize revenue streams for each segment.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03684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High-Value Discount Users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180736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who use discounts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spend above average represent a uniquely valuable segment — they are deal-savvy without being low-value.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2927251"/>
            <a:ext cx="6296860" cy="1419027"/>
          </a:xfrm>
          <a:prstGeom prst="roundRect">
            <a:avLst>
              <a:gd name="adj" fmla="val 5595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3122613"/>
            <a:ext cx="59061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Shoppers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428717" y="3546078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spenders who strategically maximize value with discounts — loyal, engaged, and revenue-positive.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3360" y="4535289"/>
            <a:ext cx="6296860" cy="1419027"/>
          </a:xfrm>
          <a:prstGeom prst="roundRect">
            <a:avLst>
              <a:gd name="adj" fmla="val 5595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28717" y="4730651"/>
            <a:ext cx="59061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Opportunity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428717" y="5154116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premium customers with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exclusive, members-only offers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reinforce loyalty and increase purchase frequency.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735"/>
            <a:ext cx="10868745" cy="55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70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Top-Rated Products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39776"/>
            <a:ext cx="3534282" cy="15923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6779" y="1728887"/>
            <a:ext cx="3079871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3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spc="-35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Blouse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26779" y="2167334"/>
            <a:ext cx="307987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customer satisfaction — consistently excellent reviews across all demographics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285232"/>
            <a:ext cx="3534282" cy="13337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779" y="3474343"/>
            <a:ext cx="3079871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3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spc="-35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Dress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26779" y="3912791"/>
            <a:ext cx="307987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customer approval with high repeat-purchase intent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772124"/>
            <a:ext cx="3534282" cy="13337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6779" y="4961235"/>
            <a:ext cx="3079871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3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spc="-35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Shirt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26779" y="5399683"/>
            <a:ext cx="307987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Reliably well-reviewed across price points and seasons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2996" y="2058392"/>
            <a:ext cx="6227408" cy="35289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Shipping Preferences Impact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Express Customers Spend More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2776" y="2483346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who choose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 Shipping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spend an average of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$65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transaction —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876CD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12% more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Standard Shipping customers at $58.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preference is a strong behavioral signal. Prioritize express-eligible promotions and upsells to this high-intent segment.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0229"/>
            <a:ext cx="10868745" cy="40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spc="-51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Impact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454" y="2408634"/>
            <a:ext cx="4523766" cy="25635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27181" y="1332905"/>
            <a:ext cx="3609289" cy="1312168"/>
          </a:xfrm>
          <a:prstGeom prst="roundRect">
            <a:avLst>
              <a:gd name="adj" fmla="val 3933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56361" y="1462088"/>
            <a:ext cx="368489" cy="368498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7661" y="1563390"/>
            <a:ext cx="165790" cy="1657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56361" y="1910358"/>
            <a:ext cx="335093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Higher Spend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056361" y="2191643"/>
            <a:ext cx="3350930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consistently outspend non-subscribers per transaction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7927181" y="2724845"/>
            <a:ext cx="3609289" cy="1312168"/>
          </a:xfrm>
          <a:prstGeom prst="roundRect">
            <a:avLst>
              <a:gd name="adj" fmla="val 3933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56361" y="2854027"/>
            <a:ext cx="368489" cy="368498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7661" y="2955330"/>
            <a:ext cx="165790" cy="1657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56361" y="3302298"/>
            <a:ext cx="335093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Share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8056361" y="3583583"/>
            <a:ext cx="3350930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disproportionate share of total revenue comes from subscription customers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7927181" y="4116784"/>
            <a:ext cx="3609289" cy="1312168"/>
          </a:xfrm>
          <a:prstGeom prst="roundRect">
            <a:avLst>
              <a:gd name="adj" fmla="val 3933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056361" y="4245967"/>
            <a:ext cx="368489" cy="368498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57661" y="4347270"/>
            <a:ext cx="165790" cy="16579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56361" y="4694238"/>
            <a:ext cx="335093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Loyalty Rate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8056361" y="4975523"/>
            <a:ext cx="3350930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demonstrate significantly higher repeat purchase frequency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7927181" y="5518745"/>
            <a:ext cx="3609289" cy="529233"/>
          </a:xfrm>
          <a:prstGeom prst="roundRect">
            <a:avLst>
              <a:gd name="adj" fmla="val 9750"/>
            </a:avLst>
          </a:prstGeom>
          <a:solidFill>
            <a:srgbClr val="2F1D6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0011" y="5642273"/>
            <a:ext cx="153488" cy="12283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26328" y="5621238"/>
            <a:ext cx="30873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Subscriptions are a powerful lever for both revenue growth and customer retention.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6999"/>
            <a:ext cx="10868745" cy="589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74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33934"/>
            <a:ext cx="4954464" cy="35663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1267" y="1612602"/>
            <a:ext cx="5215303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37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Three Tiers of Value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1267" y="2077641"/>
            <a:ext cx="521530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the customer base are first-time buyers — the largest growth opportunity lies in converting them up the loyalty ladder.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843" y="5589488"/>
            <a:ext cx="269273" cy="269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4966" y="5584031"/>
            <a:ext cx="4744224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3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New → Returning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244966" y="5980807"/>
            <a:ext cx="474422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sequences and first-purchase incentives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9774" y="5589488"/>
            <a:ext cx="269273" cy="2692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85897" y="5584031"/>
            <a:ext cx="4744323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3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Returning → Loyal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785897" y="5980807"/>
            <a:ext cx="474432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 programs and personalized rewards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5150"/>
            <a:ext cx="6296860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spc="-55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61475" y="1138238"/>
            <a:ext cx="6296860" cy="1219200"/>
          </a:xfrm>
          <a:prstGeom prst="roundRect">
            <a:avLst>
              <a:gd name="adj" fmla="val 4558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0080" y="1276846"/>
            <a:ext cx="396865" cy="396875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9218" y="1385987"/>
            <a:ext cx="178589" cy="1785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0080" y="1766292"/>
            <a:ext cx="6019649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00080" y="2038846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subscriber benefits — free shipping, early access, and member pricing.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61475" y="2450009"/>
            <a:ext cx="6296860" cy="1219200"/>
          </a:xfrm>
          <a:prstGeom prst="roundRect">
            <a:avLst>
              <a:gd name="adj" fmla="val 4558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0080" y="2588617"/>
            <a:ext cx="396865" cy="396875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218" y="2697758"/>
            <a:ext cx="178589" cy="1785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0080" y="3078063"/>
            <a:ext cx="6019649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00080" y="3350617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with points, tiers, and personalized perks to increase retention.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61475" y="3761780"/>
            <a:ext cx="6296860" cy="1219200"/>
          </a:xfrm>
          <a:prstGeom prst="roundRect">
            <a:avLst>
              <a:gd name="adj" fmla="val 4558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00080" y="3900388"/>
            <a:ext cx="396865" cy="396875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9218" y="4009529"/>
            <a:ext cx="178589" cy="17859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0080" y="4389834"/>
            <a:ext cx="6019649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800080" y="4662388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spend on high-revenue segments — female shoppers, express users, and subscribers.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61475" y="5073551"/>
            <a:ext cx="6296860" cy="1219200"/>
          </a:xfrm>
          <a:prstGeom prst="roundRect">
            <a:avLst>
              <a:gd name="adj" fmla="val 4558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00080" y="5212159"/>
            <a:ext cx="396865" cy="396875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9218" y="5321300"/>
            <a:ext cx="178589" cy="1785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0080" y="5701605"/>
            <a:ext cx="6019649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800080" y="5974159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top-rated items (Blouse, Dress, Shirt) prominently in campaigns and homepage placements.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2026-09-14T17:48:09Z</dcterms:created>
  <dcterms:modified xsi:type="dcterms:W3CDTF">2026-09-14T17:48:09Z</dcterms:modified>
</cp:coreProperties>
</file>